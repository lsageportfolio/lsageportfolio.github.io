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147472957" r:id="rId5"/>
    <p:sldId id="2147481663" r:id="rId6"/>
    <p:sldId id="2147481672" r:id="rId7"/>
    <p:sldId id="2147481665" r:id="rId8"/>
    <p:sldId id="2147481664" r:id="rId9"/>
    <p:sldId id="2147481661" r:id="rId10"/>
    <p:sldId id="2147481668" r:id="rId11"/>
    <p:sldId id="2147481667" r:id="rId12"/>
    <p:sldId id="2147481669" r:id="rId13"/>
    <p:sldId id="21474816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Schofield" userId="2ce50e93-4b30-42f1-9e0f-048d21d622a6" providerId="ADAL" clId="{DBB13FA7-322B-493C-9A86-70A9B53C3CAB}"/>
    <pc:docChg chg="custSel modSld">
      <pc:chgData name="John Schofield" userId="2ce50e93-4b30-42f1-9e0f-048d21d622a6" providerId="ADAL" clId="{DBB13FA7-322B-493C-9A86-70A9B53C3CAB}" dt="2026-08-05T15:10:35.008" v="42" actId="1076"/>
      <pc:docMkLst>
        <pc:docMk/>
      </pc:docMkLst>
      <pc:sldChg chg="delSp modSp mod">
        <pc:chgData name="John Schofield" userId="2ce50e93-4b30-42f1-9e0f-048d21d622a6" providerId="ADAL" clId="{DBB13FA7-322B-493C-9A86-70A9B53C3CAB}" dt="2026-08-05T15:10:35.008" v="42" actId="1076"/>
        <pc:sldMkLst>
          <pc:docMk/>
          <pc:sldMk cId="526214618" sldId="2147481665"/>
        </pc:sldMkLst>
        <pc:spChg chg="del">
          <ac:chgData name="John Schofield" userId="2ce50e93-4b30-42f1-9e0f-048d21d622a6" providerId="ADAL" clId="{DBB13FA7-322B-493C-9A86-70A9B53C3CAB}" dt="2026-08-05T15:06:18.613" v="14" actId="478"/>
          <ac:spMkLst>
            <pc:docMk/>
            <pc:sldMk cId="526214618" sldId="2147481665"/>
            <ac:spMk id="2" creationId="{C96E4730-EEC5-5216-02DB-F1AFA0842851}"/>
          </ac:spMkLst>
        </pc:spChg>
        <pc:spChg chg="mod">
          <ac:chgData name="John Schofield" userId="2ce50e93-4b30-42f1-9e0f-048d21d622a6" providerId="ADAL" clId="{DBB13FA7-322B-493C-9A86-70A9B53C3CAB}" dt="2026-08-05T15:10:35.008" v="42" actId="1076"/>
          <ac:spMkLst>
            <pc:docMk/>
            <pc:sldMk cId="526214618" sldId="2147481665"/>
            <ac:spMk id="5" creationId="{2A8D4390-6864-B989-6EAA-4465203845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686B4-DF14-4F4B-8263-9741FF2A3B1F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06973-950B-4829-9EBB-8E875442A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6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C2D1-275B-4019-B54F-7317D859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70CAB-0BA2-4834-B188-39C47F35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F5467F-CA83-4951-87CD-A29B728574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699A6E-CB6A-CCDC-2469-3C1B1703D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1909822"/>
            <a:ext cx="11560174" cy="4630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err="1"/>
              <a:t>Klicka</a:t>
            </a:r>
            <a:r>
              <a:rPr lang="en-US"/>
              <a:t> </a:t>
            </a:r>
            <a:r>
              <a:rPr lang="en-US" err="1"/>
              <a:t>här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ändra</a:t>
            </a:r>
            <a:r>
              <a:rPr lang="en-US"/>
              <a:t> format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bakgrundstexten</a:t>
            </a:r>
            <a:endParaRPr lang="en-US"/>
          </a:p>
          <a:p>
            <a:pPr lvl="1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två</a:t>
            </a:r>
            <a:endParaRPr lang="en-US"/>
          </a:p>
          <a:p>
            <a:pPr lvl="2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tre</a:t>
            </a:r>
            <a:endParaRPr lang="en-US"/>
          </a:p>
          <a:p>
            <a:pPr lvl="3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fyra</a:t>
            </a:r>
            <a:endParaRPr lang="en-US"/>
          </a:p>
          <a:p>
            <a:pPr lvl="4"/>
            <a:r>
              <a:rPr lang="en-US" err="1"/>
              <a:t>Nivå</a:t>
            </a:r>
            <a:r>
              <a:rPr lang="en-US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29041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C2D1-275B-4019-B54F-7317D859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70CAB-0BA2-4834-B188-39C47F35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776344-114F-8C8F-BE5C-22D0DCA6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737" y="6569999"/>
            <a:ext cx="5780087" cy="28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EB06E-6779-FAF3-2181-A261C7E4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1909822"/>
            <a:ext cx="11560174" cy="4630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err="1"/>
              <a:t>Klicka</a:t>
            </a:r>
            <a:r>
              <a:rPr lang="en-US"/>
              <a:t> </a:t>
            </a:r>
            <a:r>
              <a:rPr lang="en-US" err="1"/>
              <a:t>här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ändra</a:t>
            </a:r>
            <a:r>
              <a:rPr lang="en-US"/>
              <a:t> format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bakgrundstexten</a:t>
            </a:r>
            <a:endParaRPr lang="en-US"/>
          </a:p>
          <a:p>
            <a:pPr lvl="1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två</a:t>
            </a:r>
            <a:endParaRPr lang="en-US"/>
          </a:p>
          <a:p>
            <a:pPr lvl="2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tre</a:t>
            </a:r>
            <a:endParaRPr lang="en-US"/>
          </a:p>
          <a:p>
            <a:pPr lvl="3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fyra</a:t>
            </a:r>
            <a:endParaRPr lang="en-US"/>
          </a:p>
          <a:p>
            <a:pPr lvl="4"/>
            <a:r>
              <a:rPr lang="en-US" err="1"/>
              <a:t>Nivå</a:t>
            </a:r>
            <a:r>
              <a:rPr lang="en-US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1069482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B8C3-AB66-4396-9216-8340CD2A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1326" y="2025570"/>
            <a:ext cx="7624762" cy="2082879"/>
          </a:xfrm>
        </p:spPr>
        <p:txBody>
          <a:bodyPr anchor="b"/>
          <a:lstStyle>
            <a:lvl1pPr algn="l">
              <a:lnSpc>
                <a:spcPct val="83000"/>
              </a:lnSpc>
              <a:defRPr sz="5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752FF4DC-487B-4831-A0FF-2A994085A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1325" y="4373563"/>
            <a:ext cx="7624762" cy="2203450"/>
          </a:xfr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621D205-4228-4914-8355-B962E0CF768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251326" y="1186416"/>
            <a:ext cx="2702184" cy="57404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 cap="all" spc="15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PREHEADER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D16815-AA79-FCBC-9534-7144D45B60B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249" y="5853601"/>
            <a:ext cx="1275248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2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6F79-7DB2-431C-BFE1-495938CE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5467F-CA83-4951-87CD-A29B72857444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31F30"/>
              </a:solidFill>
              <a:effectLst/>
              <a:uLnTx/>
              <a:uFillTx/>
              <a:latin typeface="Securitas Pro Office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A54B40-7C33-0135-FE27-1B059EBE8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1326" y="1065600"/>
            <a:ext cx="7624762" cy="3042850"/>
          </a:xfrm>
        </p:spPr>
        <p:txBody>
          <a:bodyPr anchor="t"/>
          <a:lstStyle>
            <a:lvl1pPr algn="l">
              <a:lnSpc>
                <a:spcPct val="83000"/>
              </a:lnSpc>
              <a:defRPr sz="5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6149078-80E7-47E6-850F-092EE838E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913" y="1082675"/>
            <a:ext cx="3686175" cy="1406525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latshållare för text 8">
            <a:extLst>
              <a:ext uri="{FF2B5EF4-FFF2-40B4-BE49-F238E27FC236}">
                <a16:creationId xmlns:a16="http://schemas.microsoft.com/office/drawing/2014/main" id="{DA643B48-89CE-D8D5-A17D-7FD5F941C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1325" y="4373563"/>
            <a:ext cx="4670425" cy="2203450"/>
          </a:xfr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629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73D99CC2-4E7F-F240-C503-5C4ED1422C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27424D3-AF14-AF8B-898E-F29D273C9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6118" y="2375019"/>
            <a:ext cx="3919764" cy="210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4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042B7CA3-008A-47AC-BB01-D5068FDB61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1287" y="1935162"/>
            <a:ext cx="7624800" cy="46053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AA9B10-E94C-4DCD-BFE2-88B34483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latshållare för text 8">
            <a:extLst>
              <a:ext uri="{FF2B5EF4-FFF2-40B4-BE49-F238E27FC236}">
                <a16:creationId xmlns:a16="http://schemas.microsoft.com/office/drawing/2014/main" id="{22186728-45F6-4366-92B0-C268B7AAC4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2996" y="1904999"/>
            <a:ext cx="3686175" cy="4635499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635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+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2F6474D-6619-4B09-A0DC-0392431447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9913" y="1905000"/>
            <a:ext cx="3685942" cy="4634097"/>
          </a:xfrm>
        </p:spPr>
        <p:txBody>
          <a:bodyPr/>
          <a:lstStyle/>
          <a:p>
            <a:endParaRPr lang="sv-SE"/>
          </a:p>
        </p:txBody>
      </p:sp>
      <p:sp>
        <p:nvSpPr>
          <p:cNvPr id="18" name="Platshållare för text 8">
            <a:extLst>
              <a:ext uri="{FF2B5EF4-FFF2-40B4-BE49-F238E27FC236}">
                <a16:creationId xmlns:a16="http://schemas.microsoft.com/office/drawing/2014/main" id="{36EA1E14-2AE7-4059-8B53-39796EA6B3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2996" y="1905000"/>
            <a:ext cx="3686175" cy="4626610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latshållare för text 8">
            <a:extLst>
              <a:ext uri="{FF2B5EF4-FFF2-40B4-BE49-F238E27FC236}">
                <a16:creationId xmlns:a16="http://schemas.microsoft.com/office/drawing/2014/main" id="{80A38CA8-BCC9-47CA-8569-988796C61C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51455" y="1905000"/>
            <a:ext cx="3686175" cy="4626610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F5D5A-4F8B-5223-9D95-9665B424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7921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E8EA89B-4AA2-C96D-99E7-3D1AB1ADA1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587433 w 6096001"/>
              <a:gd name="connsiteY1" fmla="*/ 0 h 6858000"/>
              <a:gd name="connsiteX2" fmla="*/ 6096000 w 6096001"/>
              <a:gd name="connsiteY2" fmla="*/ 0 h 6858000"/>
              <a:gd name="connsiteX3" fmla="*/ 6096001 w 6096001"/>
              <a:gd name="connsiteY3" fmla="*/ 0 h 6858000"/>
              <a:gd name="connsiteX4" fmla="*/ 6096001 w 6096001"/>
              <a:gd name="connsiteY4" fmla="*/ 6858000 h 6858000"/>
              <a:gd name="connsiteX5" fmla="*/ 0 w 6096001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587433" y="0"/>
                </a:lnTo>
                <a:lnTo>
                  <a:pt x="6096000" y="0"/>
                </a:lnTo>
                <a:lnTo>
                  <a:pt x="6096001" y="0"/>
                </a:ln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91789-7AAB-4A0F-8CF3-906E9A65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1074420"/>
            <a:ext cx="5416473" cy="6051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latshållare för text 8">
            <a:extLst>
              <a:ext uri="{FF2B5EF4-FFF2-40B4-BE49-F238E27FC236}">
                <a16:creationId xmlns:a16="http://schemas.microsoft.com/office/drawing/2014/main" id="{DDAEF888-5689-44C5-8635-9897106B0D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2995" y="1905000"/>
            <a:ext cx="5416473" cy="4626610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2972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+ tex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latshållare för bild 7">
            <a:extLst>
              <a:ext uri="{FF2B5EF4-FFF2-40B4-BE49-F238E27FC236}">
                <a16:creationId xmlns:a16="http://schemas.microsoft.com/office/drawing/2014/main" id="{E7D19DB1-1EB5-4FFD-8FBF-D18A364B9E1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5911" y="1938600"/>
            <a:ext cx="3690000" cy="216985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latshållare för bild 7">
            <a:extLst>
              <a:ext uri="{FF2B5EF4-FFF2-40B4-BE49-F238E27FC236}">
                <a16:creationId xmlns:a16="http://schemas.microsoft.com/office/drawing/2014/main" id="{018ED00A-7DAD-4124-8A7E-24BD66272D4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51000" y="1938600"/>
            <a:ext cx="3690000" cy="216985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latshållare för bild 7">
            <a:extLst>
              <a:ext uri="{FF2B5EF4-FFF2-40B4-BE49-F238E27FC236}">
                <a16:creationId xmlns:a16="http://schemas.microsoft.com/office/drawing/2014/main" id="{00CEA0B5-D267-48FF-9D87-1B2AC5FF3C6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6088" y="1938600"/>
            <a:ext cx="3690000" cy="216985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latshållare för text 8">
            <a:extLst>
              <a:ext uri="{FF2B5EF4-FFF2-40B4-BE49-F238E27FC236}">
                <a16:creationId xmlns:a16="http://schemas.microsoft.com/office/drawing/2014/main" id="{0DDD3586-5B09-42D7-A338-BD4B768ECE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996" y="4335780"/>
            <a:ext cx="3686175" cy="2195829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latshållare för text 8">
            <a:extLst>
              <a:ext uri="{FF2B5EF4-FFF2-40B4-BE49-F238E27FC236}">
                <a16:creationId xmlns:a16="http://schemas.microsoft.com/office/drawing/2014/main" id="{85723909-5194-4A73-8576-435142081FE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51455" y="4335780"/>
            <a:ext cx="3686175" cy="2195829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latshållare för text 8">
            <a:extLst>
              <a:ext uri="{FF2B5EF4-FFF2-40B4-BE49-F238E27FC236}">
                <a16:creationId xmlns:a16="http://schemas.microsoft.com/office/drawing/2014/main" id="{9CFB17B3-EFE4-47C8-80CE-D9CCF1753B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89914" y="4335780"/>
            <a:ext cx="3686175" cy="2195829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43DC1D-1CC8-0FBF-8537-DB91CA4F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4814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236C499-FD48-4B9C-B8E6-B4CB200E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7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3A2434-4304-4883-B11A-C43A537E13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49620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D6FF9F-976C-4326-9778-02E02DAA98D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86504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DB9428-F41F-CB33-87B1-48176116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639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C441339-B654-4EFF-9502-A8F271486DC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737" y="1905898"/>
            <a:ext cx="5656263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7E00CF0-0D1A-49A0-A4F8-7F9669442AA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221413" y="1905898"/>
            <a:ext cx="5656263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B0760F-0EC6-986A-8B6D-EF039177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8594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hree multi-cont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1956BCC-7EA3-4AC3-B9D4-72F0131152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5913" y="1906588"/>
            <a:ext cx="5654675" cy="1392237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100">
                <a:solidFill>
                  <a:schemeClr val="tx1"/>
                </a:solidFill>
              </a:defRPr>
            </a:lvl3pPr>
            <a:lvl4pPr>
              <a:buNone/>
              <a:defRPr sz="1050">
                <a:solidFill>
                  <a:schemeClr val="tx1"/>
                </a:solidFill>
              </a:defRPr>
            </a:lvl4pPr>
            <a:lvl5pPr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2D964D21-3DA8-43A9-8EB1-018F94F0CA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1414" y="1906588"/>
            <a:ext cx="5654675" cy="1392237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100">
                <a:solidFill>
                  <a:schemeClr val="tx1"/>
                </a:solidFill>
              </a:defRPr>
            </a:lvl3pPr>
            <a:lvl4pPr>
              <a:buNone/>
              <a:defRPr sz="1050">
                <a:solidFill>
                  <a:schemeClr val="tx1"/>
                </a:solidFill>
              </a:defRPr>
            </a:lvl4pPr>
            <a:lvl5pPr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63611D-9A81-4BAD-8ACC-CAAAD94C7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7" y="3524250"/>
            <a:ext cx="3689351" cy="3016250"/>
          </a:xfrm>
        </p:spPr>
        <p:txBody>
          <a:bodyPr/>
          <a:lstStyle>
            <a:lvl1pPr marL="182563" indent="-182563">
              <a:defRPr sz="1400">
                <a:solidFill>
                  <a:schemeClr val="accent6"/>
                </a:solidFill>
              </a:defRPr>
            </a:lvl1pPr>
            <a:lvl2pPr marL="358775" indent="-179388">
              <a:defRPr sz="1200">
                <a:solidFill>
                  <a:schemeClr val="accent6"/>
                </a:solidFill>
              </a:defRPr>
            </a:lvl2pPr>
            <a:lvl3pPr marL="538163" indent="-177800">
              <a:defRPr sz="1000">
                <a:solidFill>
                  <a:schemeClr val="accent6"/>
                </a:solidFill>
              </a:defRPr>
            </a:lvl3pPr>
            <a:lvl4pPr marL="715963" indent="-177800">
              <a:defRPr sz="1000">
                <a:solidFill>
                  <a:schemeClr val="accent6"/>
                </a:solidFill>
              </a:defRPr>
            </a:lvl4pPr>
            <a:lvl5pPr marL="898525" indent="-182563">
              <a:defRPr sz="10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16CA1A-03D4-4A55-A498-3585C6B3C97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49620" y="3524250"/>
            <a:ext cx="3689351" cy="3016250"/>
          </a:xfrm>
        </p:spPr>
        <p:txBody>
          <a:bodyPr/>
          <a:lstStyle>
            <a:lvl1pPr marL="182563" indent="-182563">
              <a:defRPr sz="1400">
                <a:solidFill>
                  <a:schemeClr val="accent6"/>
                </a:solidFill>
              </a:defRPr>
            </a:lvl1pPr>
            <a:lvl2pPr marL="358775" indent="-179388">
              <a:defRPr sz="1200">
                <a:solidFill>
                  <a:schemeClr val="accent6"/>
                </a:solidFill>
              </a:defRPr>
            </a:lvl2pPr>
            <a:lvl3pPr marL="538163" indent="-177800">
              <a:defRPr sz="1000">
                <a:solidFill>
                  <a:schemeClr val="accent6"/>
                </a:solidFill>
              </a:defRPr>
            </a:lvl3pPr>
            <a:lvl4pPr marL="715963" indent="-177800">
              <a:defRPr sz="1000">
                <a:solidFill>
                  <a:schemeClr val="accent6"/>
                </a:solidFill>
              </a:defRPr>
            </a:lvl4pPr>
            <a:lvl5pPr marL="898525" indent="-182563">
              <a:defRPr sz="10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AAEC20F-CF61-4DC6-8265-72DEF79AE8D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86504" y="3524250"/>
            <a:ext cx="3689351" cy="3016250"/>
          </a:xfrm>
        </p:spPr>
        <p:txBody>
          <a:bodyPr/>
          <a:lstStyle>
            <a:lvl1pPr marL="182563" indent="-182563">
              <a:defRPr sz="1400">
                <a:solidFill>
                  <a:schemeClr val="accent6"/>
                </a:solidFill>
              </a:defRPr>
            </a:lvl1pPr>
            <a:lvl2pPr marL="358775" indent="-179388">
              <a:defRPr sz="1200">
                <a:solidFill>
                  <a:schemeClr val="accent6"/>
                </a:solidFill>
              </a:defRPr>
            </a:lvl2pPr>
            <a:lvl3pPr marL="538163" indent="-177800">
              <a:defRPr sz="1000">
                <a:solidFill>
                  <a:schemeClr val="accent6"/>
                </a:solidFill>
              </a:defRPr>
            </a:lvl3pPr>
            <a:lvl4pPr marL="715963" indent="-177800">
              <a:defRPr sz="1000">
                <a:solidFill>
                  <a:schemeClr val="accent6"/>
                </a:solidFill>
              </a:defRPr>
            </a:lvl4pPr>
            <a:lvl5pPr marL="898525" indent="-182563">
              <a:defRPr sz="10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6580AB-9165-DD72-7341-1D5C2D62B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197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ulti-cont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8FA3C3-287B-4092-AA8A-56B8CA3CA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7" y="1905898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08958A-0AD2-4FF3-8EF7-6F940E23FF7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49620" y="1905898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EDEB809-9992-4CB0-8816-D0AF0A4BB911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86504" y="1905898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316E21-ACB5-4A3A-9301-C5971B83488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737" y="4330299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BA22C2-D695-4847-94FB-01D24772DFB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249620" y="4330299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52546DF-E7C5-4FCE-81A7-8161DD19A38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186504" y="4330299"/>
            <a:ext cx="3689351" cy="220255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215046-84E9-B428-9A70-693BE63B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2748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042B7CA3-008A-47AC-BB01-D5068FDB61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1287" y="1935162"/>
            <a:ext cx="7624800" cy="46053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AA9B10-E94C-4DCD-BFE2-88B34483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latshållare för text 8">
            <a:extLst>
              <a:ext uri="{FF2B5EF4-FFF2-40B4-BE49-F238E27FC236}">
                <a16:creationId xmlns:a16="http://schemas.microsoft.com/office/drawing/2014/main" id="{22186728-45F6-4366-92B0-C268B7AAC4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2996" y="1904999"/>
            <a:ext cx="3686175" cy="4635499"/>
          </a:xfrm>
        </p:spPr>
        <p:txBody>
          <a:bodyPr/>
          <a:lstStyle>
            <a:lvl1pPr marL="179388" indent="-179388">
              <a:defRPr sz="1400">
                <a:solidFill>
                  <a:schemeClr val="tx1"/>
                </a:solidFill>
              </a:defRPr>
            </a:lvl1pPr>
            <a:lvl2pPr marL="360363" indent="-182563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9388">
              <a:defRPr sz="1000">
                <a:solidFill>
                  <a:schemeClr val="tx1"/>
                </a:solidFill>
              </a:defRPr>
            </a:lvl4pPr>
            <a:lvl5pPr marL="898525" indent="-180975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6340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96D6-AAD8-410E-989B-6628B8D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236C499-FD48-4B9C-B8E6-B4CB200E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7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3A2434-4304-4883-B11A-C43A537E13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49620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D6FF9F-976C-4326-9778-02E02DAA98D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86504" y="1905898"/>
            <a:ext cx="3689351" cy="4634602"/>
          </a:xfrm>
        </p:spPr>
        <p:txBody>
          <a:bodyPr/>
          <a:lstStyle>
            <a:lvl1pPr marL="182563" indent="-182563">
              <a:defRPr sz="1400">
                <a:solidFill>
                  <a:schemeClr val="tx1"/>
                </a:solidFill>
              </a:defRPr>
            </a:lvl1pPr>
            <a:lvl2pPr marL="358775" indent="-179388">
              <a:defRPr sz="1200">
                <a:solidFill>
                  <a:schemeClr val="tx1"/>
                </a:solidFill>
              </a:defRPr>
            </a:lvl2pPr>
            <a:lvl3pPr marL="538163" indent="-177800">
              <a:defRPr sz="1000">
                <a:solidFill>
                  <a:schemeClr val="tx1"/>
                </a:solidFill>
              </a:defRPr>
            </a:lvl3pPr>
            <a:lvl4pPr marL="715963" indent="-177800">
              <a:defRPr sz="1000">
                <a:solidFill>
                  <a:schemeClr val="tx1"/>
                </a:solidFill>
              </a:defRPr>
            </a:lvl4pPr>
            <a:lvl5pPr marL="898525" indent="-182563"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3E9CA6-06B2-85F3-09B6-42835244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</p:spPr>
        <p:txBody>
          <a:bodyPr/>
          <a:lstStyle>
            <a:lvl1pPr>
              <a:defRPr>
                <a:solidFill>
                  <a:srgbClr val="031F3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91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Lge-Img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34AED7-3D1A-F8D2-A2CB-44DC331AD08E}"/>
              </a:ext>
            </a:extLst>
          </p:cNvPr>
          <p:cNvSpPr/>
          <p:nvPr userDrawn="1"/>
        </p:nvSpPr>
        <p:spPr>
          <a:xfrm>
            <a:off x="196770" y="219918"/>
            <a:ext cx="1141142" cy="51359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B1917F1A-F3DC-49F0-ADBF-AE7453124B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329314"/>
            <a:ext cx="12192000" cy="45286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97C4F-3117-9E7E-5270-E8931F8017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6249" y="662289"/>
            <a:ext cx="7624762" cy="1386038"/>
          </a:xfrm>
        </p:spPr>
        <p:txBody>
          <a:bodyPr anchor="b"/>
          <a:lstStyle>
            <a:lvl1pPr algn="l">
              <a:lnSpc>
                <a:spcPct val="83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Large title would go here and no more than two lines</a:t>
            </a:r>
          </a:p>
        </p:txBody>
      </p:sp>
      <p:sp>
        <p:nvSpPr>
          <p:cNvPr id="3" name="Platshållare för text 8">
            <a:extLst>
              <a:ext uri="{FF2B5EF4-FFF2-40B4-BE49-F238E27FC236}">
                <a16:creationId xmlns:a16="http://schemas.microsoft.com/office/drawing/2014/main" id="{DE3708D9-DC3F-8EE1-E7FE-1A2EA673E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76109" y="662289"/>
            <a:ext cx="3299978" cy="1386038"/>
          </a:xfrm>
        </p:spPr>
        <p:txBody>
          <a:bodyPr anchor="t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A011A0-1116-76B6-D08D-96AC0FE410C6}"/>
              </a:ext>
            </a:extLst>
          </p:cNvPr>
          <p:cNvCxnSpPr>
            <a:cxnSpLocks/>
          </p:cNvCxnSpPr>
          <p:nvPr userDrawn="1"/>
        </p:nvCxnSpPr>
        <p:spPr>
          <a:xfrm>
            <a:off x="8239224" y="662289"/>
            <a:ext cx="0" cy="1389888"/>
          </a:xfrm>
          <a:prstGeom prst="line">
            <a:avLst/>
          </a:prstGeom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130B54D-B451-061C-1BC6-E1086FDC79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3" y="221684"/>
            <a:ext cx="708942" cy="3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42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-Lge-Img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34AED7-3D1A-F8D2-A2CB-44DC331AD08E}"/>
              </a:ext>
            </a:extLst>
          </p:cNvPr>
          <p:cNvSpPr/>
          <p:nvPr userDrawn="1"/>
        </p:nvSpPr>
        <p:spPr>
          <a:xfrm>
            <a:off x="196770" y="219918"/>
            <a:ext cx="1141142" cy="51359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B1917F1A-F3DC-49F0-ADBF-AE7453124B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329314"/>
            <a:ext cx="12192000" cy="45286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97C4F-3117-9E7E-5270-E8931F8017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6249" y="662289"/>
            <a:ext cx="7624762" cy="1386038"/>
          </a:xfrm>
        </p:spPr>
        <p:txBody>
          <a:bodyPr anchor="b"/>
          <a:lstStyle>
            <a:lvl1pPr algn="l">
              <a:lnSpc>
                <a:spcPct val="83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Large title would go here and no more than two lines</a:t>
            </a:r>
          </a:p>
        </p:txBody>
      </p:sp>
      <p:sp>
        <p:nvSpPr>
          <p:cNvPr id="3" name="Platshållare för text 8">
            <a:extLst>
              <a:ext uri="{FF2B5EF4-FFF2-40B4-BE49-F238E27FC236}">
                <a16:creationId xmlns:a16="http://schemas.microsoft.com/office/drawing/2014/main" id="{DE3708D9-DC3F-8EE1-E7FE-1A2EA673E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76109" y="662289"/>
            <a:ext cx="3299978" cy="1386038"/>
          </a:xfrm>
        </p:spPr>
        <p:txBody>
          <a:bodyPr anchor="t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A011A0-1116-76B6-D08D-96AC0FE410C6}"/>
              </a:ext>
            </a:extLst>
          </p:cNvPr>
          <p:cNvCxnSpPr>
            <a:cxnSpLocks/>
          </p:cNvCxnSpPr>
          <p:nvPr userDrawn="1"/>
        </p:nvCxnSpPr>
        <p:spPr>
          <a:xfrm>
            <a:off x="8239224" y="662289"/>
            <a:ext cx="0" cy="1389888"/>
          </a:xfrm>
          <a:prstGeom prst="line">
            <a:avLst/>
          </a:prstGeom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7B39A75A-939C-6CD2-3F5C-9D52EE3755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3" y="221684"/>
            <a:ext cx="708942" cy="3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52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70CAB-0BA2-4834-B188-39C47F35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F5467F-CA83-4951-87CD-A29B7285744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34606-AE86-1565-B74E-221B0C0A0FB7}"/>
              </a:ext>
            </a:extLst>
          </p:cNvPr>
          <p:cNvSpPr/>
          <p:nvPr userDrawn="1"/>
        </p:nvSpPr>
        <p:spPr>
          <a:xfrm>
            <a:off x="196770" y="219919"/>
            <a:ext cx="1018572" cy="416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A83BB-5BCE-1BD3-79B2-A8C5ECEFAF6F}"/>
              </a:ext>
            </a:extLst>
          </p:cNvPr>
          <p:cNvSpPr/>
          <p:nvPr userDrawn="1"/>
        </p:nvSpPr>
        <p:spPr>
          <a:xfrm>
            <a:off x="10999237" y="6441310"/>
            <a:ext cx="1018572" cy="416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7753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41A6F70-7C65-4009-808B-35A97572D4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9713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92" imgH="591" progId="TCLayout.ActiveDocument.1">
                  <p:embed/>
                </p:oleObj>
              </mc:Choice>
              <mc:Fallback>
                <p:oleObj name="think-cell Slide" r:id="rId21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41A6F70-7C65-4009-808B-35A97572D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5EE51-B9E4-4CE9-B81B-C3EBAEFD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934200"/>
            <a:ext cx="11560174" cy="6990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err="1"/>
              <a:t>Klicka</a:t>
            </a:r>
            <a:r>
              <a:rPr lang="en-US"/>
              <a:t> </a:t>
            </a:r>
            <a:r>
              <a:rPr lang="en-US" err="1"/>
              <a:t>här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ändra</a:t>
            </a:r>
            <a:r>
              <a:rPr lang="en-US"/>
              <a:t> mall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rubrikformat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590DA-E662-4AC9-9802-1C01A2B6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913" y="1909822"/>
            <a:ext cx="11560174" cy="4630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err="1"/>
              <a:t>Klicka</a:t>
            </a:r>
            <a:r>
              <a:rPr lang="en-US"/>
              <a:t> </a:t>
            </a:r>
            <a:r>
              <a:rPr lang="en-US" err="1"/>
              <a:t>här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ändra</a:t>
            </a:r>
            <a:r>
              <a:rPr lang="en-US"/>
              <a:t> format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bakgrundstexten</a:t>
            </a:r>
            <a:endParaRPr lang="en-US"/>
          </a:p>
          <a:p>
            <a:pPr lvl="1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två</a:t>
            </a:r>
            <a:endParaRPr lang="en-US"/>
          </a:p>
          <a:p>
            <a:pPr lvl="2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tre</a:t>
            </a:r>
            <a:endParaRPr lang="en-US"/>
          </a:p>
          <a:p>
            <a:pPr lvl="3"/>
            <a:r>
              <a:rPr lang="en-US" err="1"/>
              <a:t>Nivå</a:t>
            </a:r>
            <a:r>
              <a:rPr lang="en-US"/>
              <a:t> </a:t>
            </a:r>
            <a:r>
              <a:rPr lang="en-US" err="1"/>
              <a:t>fyra</a:t>
            </a:r>
            <a:endParaRPr lang="en-US"/>
          </a:p>
          <a:p>
            <a:pPr lvl="4"/>
            <a:r>
              <a:rPr lang="en-US" err="1"/>
              <a:t>Nivå</a:t>
            </a:r>
            <a:r>
              <a:rPr lang="en-US"/>
              <a:t> fem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2ED6-F99D-471D-B591-4BDE93277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0959" y="6569999"/>
            <a:ext cx="735128" cy="28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20F5467F-CA83-4951-87CD-A29B7285744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EC5CDB16-1DF9-6EE2-7977-CA3A7B7D9B0D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3" y="221684"/>
            <a:ext cx="708942" cy="3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03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713" r:id="rId3"/>
    <p:sldLayoutId id="2147483715" r:id="rId4"/>
    <p:sldLayoutId id="2147483668" r:id="rId5"/>
    <p:sldLayoutId id="2147483670" r:id="rId6"/>
    <p:sldLayoutId id="2147483671" r:id="rId7"/>
    <p:sldLayoutId id="2147483672" r:id="rId8"/>
    <p:sldLayoutId id="2147483673" r:id="rId9"/>
    <p:sldLayoutId id="2147483678" r:id="rId10"/>
    <p:sldLayoutId id="2147483679" r:id="rId11"/>
    <p:sldLayoutId id="2147483680" r:id="rId12"/>
    <p:sldLayoutId id="2147483681" r:id="rId13"/>
    <p:sldLayoutId id="2147483696" r:id="rId14"/>
    <p:sldLayoutId id="2147483704" r:id="rId15"/>
    <p:sldLayoutId id="2147483661" r:id="rId16"/>
    <p:sldLayoutId id="2147483662" r:id="rId17"/>
    <p:sldLayoutId id="2147483685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Font typeface="Securitas Pro Office" panose="00000500000000000000" pitchFamily="2" charset="0"/>
        <a:buChar char="—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720725" indent="-361950" algn="l" defTabSz="914400" rtl="0" eaLnBrk="1" latinLnBrk="0" hangingPunct="1">
        <a:lnSpc>
          <a:spcPct val="90000"/>
        </a:lnSpc>
        <a:spcBef>
          <a:spcPts val="500"/>
        </a:spcBef>
        <a:buFont typeface="Securitas Pro Office" panose="00000500000000000000" pitchFamily="2" charset="0"/>
        <a:buChar char="—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989013" indent="-268288" algn="l" defTabSz="914400" rtl="0" eaLnBrk="1" latinLnBrk="0" hangingPunct="1">
        <a:lnSpc>
          <a:spcPct val="90000"/>
        </a:lnSpc>
        <a:spcBef>
          <a:spcPts val="500"/>
        </a:spcBef>
        <a:buFont typeface="Securitas Pro Office" panose="00000500000000000000" pitchFamily="2" charset="0"/>
        <a:buChar char="—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254125" indent="-268288" algn="l" defTabSz="914400" rtl="0" eaLnBrk="1" latinLnBrk="0" hangingPunct="1">
        <a:lnSpc>
          <a:spcPct val="90000"/>
        </a:lnSpc>
        <a:spcBef>
          <a:spcPts val="500"/>
        </a:spcBef>
        <a:buFont typeface="Securitas Pro Office" panose="00000500000000000000" pitchFamily="2" charset="0"/>
        <a:buChar char="—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524000" indent="-269875" algn="l" defTabSz="914400" rtl="0" eaLnBrk="1" latinLnBrk="0" hangingPunct="1">
        <a:lnSpc>
          <a:spcPct val="90000"/>
        </a:lnSpc>
        <a:spcBef>
          <a:spcPts val="500"/>
        </a:spcBef>
        <a:buFont typeface="Securitas Pro Office" panose="00000500000000000000" pitchFamily="2" charset="0"/>
        <a:buChar char="—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00">
          <p15:clr>
            <a:srgbClr val="F26B43"/>
          </p15:clr>
        </p15:guide>
        <p15:guide id="2" orient="horz" pos="200">
          <p15:clr>
            <a:srgbClr val="F26B43"/>
          </p15:clr>
        </p15:guide>
        <p15:guide id="3" pos="7480">
          <p15:clr>
            <a:srgbClr val="F26B43"/>
          </p15:clr>
        </p15:guide>
        <p15:guide id="4" orient="horz" pos="4120">
          <p15:clr>
            <a:srgbClr val="F26B43"/>
          </p15:clr>
        </p15:guide>
        <p15:guide id="5" orient="horz" pos="710">
          <p15:clr>
            <a:srgbClr val="F26B43"/>
          </p15:clr>
        </p15:guide>
        <p15:guide id="6" orient="horz" pos="1058">
          <p15:clr>
            <a:srgbClr val="F26B43"/>
          </p15:clr>
        </p15:guide>
        <p15:guide id="7" pos="660">
          <p15:clr>
            <a:srgbClr val="F26B43"/>
          </p15:clr>
        </p15:guide>
        <p15:guide id="8" pos="819">
          <p15:clr>
            <a:srgbClr val="F26B43"/>
          </p15:clr>
        </p15:guide>
        <p15:guide id="9" pos="1280">
          <p15:clr>
            <a:srgbClr val="F26B43"/>
          </p15:clr>
        </p15:guide>
        <p15:guide id="10" pos="1439">
          <p15:clr>
            <a:srgbClr val="F26B43"/>
          </p15:clr>
        </p15:guide>
        <p15:guide id="11" pos="1900">
          <p15:clr>
            <a:srgbClr val="F26B43"/>
          </p15:clr>
        </p15:guide>
        <p15:guide id="12" pos="2058">
          <p15:clr>
            <a:srgbClr val="F26B43"/>
          </p15:clr>
        </p15:guide>
        <p15:guide id="13" pos="2521">
          <p15:clr>
            <a:srgbClr val="F26B43"/>
          </p15:clr>
        </p15:guide>
        <p15:guide id="14" pos="2678">
          <p15:clr>
            <a:srgbClr val="F26B43"/>
          </p15:clr>
        </p15:guide>
        <p15:guide id="15" pos="3140">
          <p15:clr>
            <a:srgbClr val="F26B43"/>
          </p15:clr>
        </p15:guide>
        <p15:guide id="16" pos="3299">
          <p15:clr>
            <a:srgbClr val="F26B43"/>
          </p15:clr>
        </p15:guide>
        <p15:guide id="17" pos="3760">
          <p15:clr>
            <a:srgbClr val="F26B43"/>
          </p15:clr>
        </p15:guide>
        <p15:guide id="18" pos="3919">
          <p15:clr>
            <a:srgbClr val="F26B43"/>
          </p15:clr>
        </p15:guide>
        <p15:guide id="19" pos="4380">
          <p15:clr>
            <a:srgbClr val="F26B43"/>
          </p15:clr>
        </p15:guide>
        <p15:guide id="20" pos="4538">
          <p15:clr>
            <a:srgbClr val="F26B43"/>
          </p15:clr>
        </p15:guide>
        <p15:guide id="21" pos="5000">
          <p15:clr>
            <a:srgbClr val="F26B43"/>
          </p15:clr>
        </p15:guide>
        <p15:guide id="22" pos="5159">
          <p15:clr>
            <a:srgbClr val="F26B43"/>
          </p15:clr>
        </p15:guide>
        <p15:guide id="23" pos="5620">
          <p15:clr>
            <a:srgbClr val="F26B43"/>
          </p15:clr>
        </p15:guide>
        <p15:guide id="24" pos="5779">
          <p15:clr>
            <a:srgbClr val="F26B43"/>
          </p15:clr>
        </p15:guide>
        <p15:guide id="25" pos="6240">
          <p15:clr>
            <a:srgbClr val="F26B43"/>
          </p15:clr>
        </p15:guide>
        <p15:guide id="26" pos="6398">
          <p15:clr>
            <a:srgbClr val="F26B43"/>
          </p15:clr>
        </p15:guide>
        <p15:guide id="27" pos="6860">
          <p15:clr>
            <a:srgbClr val="F26B43"/>
          </p15:clr>
        </p15:guide>
        <p15:guide id="28" pos="7019">
          <p15:clr>
            <a:srgbClr val="F26B43"/>
          </p15:clr>
        </p15:guide>
        <p15:guide id="29" pos="7680">
          <p15:clr>
            <a:srgbClr val="F26B43"/>
          </p15:clr>
        </p15:guide>
        <p15:guide id="30" orient="horz" pos="1219">
          <p15:clr>
            <a:srgbClr val="F26B43"/>
          </p15:clr>
        </p15:guide>
        <p15:guide id="31" orient="horz" pos="1729">
          <p15:clr>
            <a:srgbClr val="F26B43"/>
          </p15:clr>
        </p15:guide>
        <p15:guide id="32" orient="horz" pos="1568">
          <p15:clr>
            <a:srgbClr val="F26B43"/>
          </p15:clr>
        </p15:guide>
        <p15:guide id="33" orient="horz" pos="2078">
          <p15:clr>
            <a:srgbClr val="F26B43"/>
          </p15:clr>
        </p15:guide>
        <p15:guide id="34" orient="horz" pos="2240">
          <p15:clr>
            <a:srgbClr val="F26B43"/>
          </p15:clr>
        </p15:guide>
        <p15:guide id="35" orient="horz" pos="2588">
          <p15:clr>
            <a:srgbClr val="F26B43"/>
          </p15:clr>
        </p15:guide>
        <p15:guide id="36" orient="horz" pos="2750">
          <p15:clr>
            <a:srgbClr val="F26B43"/>
          </p15:clr>
        </p15:guide>
        <p15:guide id="37" orient="horz" pos="3098">
          <p15:clr>
            <a:srgbClr val="F26B43"/>
          </p15:clr>
        </p15:guide>
        <p15:guide id="38" orient="horz" pos="3260">
          <p15:clr>
            <a:srgbClr val="F26B43"/>
          </p15:clr>
        </p15:guide>
        <p15:guide id="39" orient="horz" pos="3608">
          <p15:clr>
            <a:srgbClr val="F26B43"/>
          </p15:clr>
        </p15:guide>
        <p15:guide id="40" orient="horz" pos="37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FD6C-A878-C119-50D4-2904B2F26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 2026 Internship Presentation</a:t>
            </a:r>
            <a:br>
              <a:rPr lang="en-US" dirty="0"/>
            </a:br>
            <a:r>
              <a:rPr lang="en-US" sz="4400" b="0" dirty="0"/>
              <a:t>Finance</a:t>
            </a:r>
            <a:endParaRPr lang="en-US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0E06B-574C-7A84-D7BB-86306C8BE4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1326" y="5195559"/>
            <a:ext cx="1968319" cy="305609"/>
          </a:xfrm>
        </p:spPr>
        <p:txBody>
          <a:bodyPr/>
          <a:lstStyle/>
          <a:p>
            <a:r>
              <a:rPr lang="en-US" sz="1600" dirty="0"/>
              <a:t>Lauren 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2A3E2-2737-FB9F-E52F-0F1C0EF4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5" y="854016"/>
            <a:ext cx="3104583" cy="464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8F73-9D1B-8803-79ED-70092CC8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09" y="744473"/>
            <a:ext cx="11560174" cy="510670"/>
          </a:xfrm>
        </p:spPr>
        <p:txBody>
          <a:bodyPr/>
          <a:lstStyle/>
          <a:p>
            <a:r>
              <a:rPr lang="en-US" dirty="0">
                <a:solidFill>
                  <a:srgbClr val="031F30"/>
                </a:solidFill>
              </a:rPr>
              <a:t>My Position</a:t>
            </a:r>
            <a:br>
              <a:rPr lang="en-US" dirty="0">
                <a:solidFill>
                  <a:srgbClr val="031F30"/>
                </a:solidFill>
              </a:rPr>
            </a:br>
            <a:endParaRPr lang="en-US" sz="2000" b="0" dirty="0">
              <a:solidFill>
                <a:srgbClr val="031F3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0AF2B-243D-4645-F9DB-D00BFB7D0847}"/>
              </a:ext>
            </a:extLst>
          </p:cNvPr>
          <p:cNvSpPr txBox="1"/>
          <p:nvPr/>
        </p:nvSpPr>
        <p:spPr>
          <a:xfrm>
            <a:off x="-66" y="1397674"/>
            <a:ext cx="609456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Solomon Sub Account Mapping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Needed for Solomon to SAP Conversion to ensure all active Solomon subaccounts have SAP profit &amp; cost centers</a:t>
            </a:r>
            <a:endParaRPr lang="en-US" sz="1600" dirty="0">
              <a:solidFill>
                <a:srgbClr val="031F30"/>
              </a:solidFill>
            </a:endParaRPr>
          </a:p>
          <a:p>
            <a:pPr lvl="1"/>
            <a:endParaRPr lang="en-US" sz="1600" dirty="0">
              <a:solidFill>
                <a:srgbClr val="031F3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RMR Backlog Analysis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Looking for RMR that could be activated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31F30"/>
                </a:solidFill>
              </a:rPr>
              <a:t>Clean-up of Solomon RMR backlog for more accurate reporting of RMR backlog</a:t>
            </a:r>
          </a:p>
          <a:p>
            <a:pPr lvl="1"/>
            <a:endParaRPr lang="en-US" sz="1600" dirty="0">
              <a:solidFill>
                <a:srgbClr val="031F3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Install Backlog Analysis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Provide additional reporting to help the field find jobs that can be pulled forward or scheduled to drive revenue in current month/quarter</a:t>
            </a:r>
          </a:p>
          <a:p>
            <a:pPr lvl="1"/>
            <a:endParaRPr lang="en-US" sz="1600" dirty="0">
              <a:solidFill>
                <a:srgbClr val="031F3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Month End Close/ Presentation work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To gain a full view of the FP&amp;A process and better understanding of the monthly financial results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31F3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86B6BC-7022-0E7C-7CB9-D7D15D9F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646" y="995522"/>
            <a:ext cx="5874588" cy="5316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3BD0C5-7CE1-331E-D6A9-56B8414E4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843" y="5135105"/>
            <a:ext cx="1472954" cy="4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80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D7EDA-D1E0-3E05-16FE-23632B1D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F196-3D28-7C85-1B1A-38809051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09" y="744473"/>
            <a:ext cx="11560174" cy="510670"/>
          </a:xfrm>
        </p:spPr>
        <p:txBody>
          <a:bodyPr/>
          <a:lstStyle/>
          <a:p>
            <a:r>
              <a:rPr lang="en-US" dirty="0">
                <a:solidFill>
                  <a:srgbClr val="031F30"/>
                </a:solidFill>
              </a:rPr>
              <a:t>Solomon Sub Account to SAP Cost Center Mapping</a:t>
            </a:r>
            <a:br>
              <a:rPr lang="en-US" dirty="0">
                <a:solidFill>
                  <a:srgbClr val="031F30"/>
                </a:solidFill>
              </a:rPr>
            </a:br>
            <a:endParaRPr lang="en-US" sz="2000" b="0" dirty="0">
              <a:solidFill>
                <a:srgbClr val="031F3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E3C27-ECEC-8917-9CC7-B0391B19850F}"/>
              </a:ext>
            </a:extLst>
          </p:cNvPr>
          <p:cNvSpPr txBox="1"/>
          <p:nvPr/>
        </p:nvSpPr>
        <p:spPr>
          <a:xfrm>
            <a:off x="89139" y="1466490"/>
            <a:ext cx="387901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Desired Outcome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Find an SAP profit/cost center match for Solomon subaccount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Identify what cost centers need created in SAP and which Solomon subaccounts are no longer needed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31F30"/>
              </a:solidFill>
              <a:effectLst/>
              <a:uLnTx/>
              <a:uFillTx/>
              <a:latin typeface="Securitas Pro Offic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My Role/Contribution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Research subaccounts and their current activity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Used “text </a:t>
            </a:r>
            <a:r>
              <a:rPr lang="en-US" sz="1400" dirty="0">
                <a:solidFill>
                  <a:srgbClr val="031F30"/>
                </a:solidFill>
                <a:latin typeface="Securitas Pro Office"/>
              </a:rPr>
              <a:t>to columns” and 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lookups” in </a:t>
            </a:r>
            <a:r>
              <a:rPr lang="en-US" sz="1400" dirty="0">
                <a:solidFill>
                  <a:srgbClr val="031F30"/>
                </a:solidFill>
                <a:latin typeface="Securitas Pro Office"/>
              </a:rPr>
              <a:t>Excel f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iles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 to match</a:t>
            </a:r>
            <a:r>
              <a:rPr lang="en-US" sz="1400" dirty="0">
                <a:solidFill>
                  <a:srgbClr val="031F30"/>
                </a:solidFill>
                <a:latin typeface="Securitas Pro Office"/>
              </a:rPr>
              <a:t> Solomon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 subaccounts to SAP cost centers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31F30"/>
              </a:solidFill>
              <a:effectLst/>
              <a:uLnTx/>
              <a:uFillTx/>
              <a:latin typeface="Securitas Pro Offic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What was Learned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1F30"/>
                </a:solidFill>
                <a:effectLst/>
                <a:uLnTx/>
                <a:uFillTx/>
                <a:latin typeface="Securitas Pro Office"/>
                <a:ea typeface="+mn-ea"/>
                <a:cs typeface="+mn-cs"/>
              </a:rPr>
              <a:t>Better understanding of Solomon and SAP structure / hierarchies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031F30"/>
              </a:solidFill>
            </a:endParaRPr>
          </a:p>
          <a:p>
            <a:pPr lvl="1"/>
            <a:endParaRPr lang="en-US" sz="1600" dirty="0">
              <a:solidFill>
                <a:srgbClr val="031F3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07550C-6718-6F9C-C1E3-708E1945F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7919" y="1255143"/>
            <a:ext cx="7586664" cy="547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21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09736C2-B837-5061-71FB-A301D4254E9A}"/>
              </a:ext>
            </a:extLst>
          </p:cNvPr>
          <p:cNvSpPr txBox="1"/>
          <p:nvPr/>
        </p:nvSpPr>
        <p:spPr>
          <a:xfrm>
            <a:off x="298659" y="678667"/>
            <a:ext cx="7948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31F30"/>
                </a:solidFill>
              </a:rPr>
              <a:t>RMR Backlog Project - </a:t>
            </a:r>
            <a:r>
              <a:rPr lang="en-US" sz="2400" dirty="0">
                <a:solidFill>
                  <a:srgbClr val="031F30"/>
                </a:solidFill>
              </a:rPr>
              <a:t>Contract Backlog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D4390-6864-B989-6EAA-446520384512}"/>
              </a:ext>
            </a:extLst>
          </p:cNvPr>
          <p:cNvSpPr txBox="1"/>
          <p:nvPr/>
        </p:nvSpPr>
        <p:spPr>
          <a:xfrm>
            <a:off x="8733469" y="1779687"/>
            <a:ext cx="337691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Desired Outcome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Activate RMR where possible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Remove projects no longer valid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My Role/Contribution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Conducting research through Solomon on 400+ projects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4 research items: RMR Only, Status, Dates, RMR Services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Finding the status and resolution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Preliminary Results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80 projects activated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335 projects removed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10 projects valid status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What was Learned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A high-level view of the company’s contract process</a:t>
            </a:r>
          </a:p>
          <a:p>
            <a:pPr lvl="1"/>
            <a:endParaRPr lang="en-US" sz="1600" dirty="0">
              <a:solidFill>
                <a:srgbClr val="031F3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A15DD0-B699-06FC-1D08-BF90712E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648"/>
            <a:ext cx="5346944" cy="47397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844E0B-C8A0-0E10-085C-1EC96AD44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7153"/>
            <a:ext cx="12192000" cy="55634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F489F7-A233-EAC3-2DD7-7DCE31775C97}"/>
              </a:ext>
            </a:extLst>
          </p:cNvPr>
          <p:cNvSpPr/>
          <p:nvPr/>
        </p:nvSpPr>
        <p:spPr>
          <a:xfrm>
            <a:off x="94891" y="2234251"/>
            <a:ext cx="2087592" cy="159384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B654B8-07F7-53BA-D438-4ACF6B78BE18}"/>
              </a:ext>
            </a:extLst>
          </p:cNvPr>
          <p:cNvSpPr/>
          <p:nvPr/>
        </p:nvSpPr>
        <p:spPr>
          <a:xfrm>
            <a:off x="94891" y="3507426"/>
            <a:ext cx="5167222" cy="557808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075494-696F-6269-1809-A074EF9CD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291" y="4129691"/>
            <a:ext cx="5519798" cy="2609632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88873A-B87D-86CA-DC13-C2C240B54A16}"/>
              </a:ext>
            </a:extLst>
          </p:cNvPr>
          <p:cNvSpPr/>
          <p:nvPr/>
        </p:nvSpPr>
        <p:spPr>
          <a:xfrm>
            <a:off x="3351034" y="6116128"/>
            <a:ext cx="4119441" cy="521568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621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B473-4F4C-A806-4124-235BC820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40407"/>
            <a:ext cx="11560174" cy="344257"/>
          </a:xfrm>
        </p:spPr>
        <p:txBody>
          <a:bodyPr/>
          <a:lstStyle/>
          <a:p>
            <a:r>
              <a:rPr lang="en-US" dirty="0">
                <a:solidFill>
                  <a:srgbClr val="031F30"/>
                </a:solidFill>
              </a:rPr>
              <a:t>Install Backlog Analysis and Reporting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E8A1B-DCFD-3473-0EC1-D36E8C6C53D3}"/>
              </a:ext>
            </a:extLst>
          </p:cNvPr>
          <p:cNvSpPr txBox="1"/>
          <p:nvPr/>
        </p:nvSpPr>
        <p:spPr>
          <a:xfrm>
            <a:off x="9582057" y="574342"/>
            <a:ext cx="2530398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Desired Outcome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To pull revenue into the current month or quarter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My Role/Contribution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Creating files for each district and non-core clients twice a week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Creating executive summary views of holds, unscheduled, etc.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Additional reports helped drive a record $83M install revenue in June for US Field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31F30"/>
                </a:solidFill>
              </a:rPr>
              <a:t>What was Learned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Better understanding of the install backlog (# of jobs, $ amounts, types of holds)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8C438-E5F2-A322-9CF6-46F58BF5B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5" y="984664"/>
            <a:ext cx="9276129" cy="3042621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153A70-84EB-A341-0703-3801ABF5B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" y="4236066"/>
            <a:ext cx="5582337" cy="2121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3BDDC-591E-8222-D157-05B78FDFA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446" y="4090599"/>
            <a:ext cx="3939339" cy="2626226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6906C64D-A25E-FE4F-5A40-0B8C3DE6375B}"/>
              </a:ext>
            </a:extLst>
          </p:cNvPr>
          <p:cNvSpPr/>
          <p:nvPr/>
        </p:nvSpPr>
        <p:spPr>
          <a:xfrm>
            <a:off x="7346868" y="2146445"/>
            <a:ext cx="370936" cy="207034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E295F8EF-7821-A51A-9E08-FFAD3C4229C4}"/>
              </a:ext>
            </a:extLst>
          </p:cNvPr>
          <p:cNvSpPr/>
          <p:nvPr/>
        </p:nvSpPr>
        <p:spPr>
          <a:xfrm>
            <a:off x="7355494" y="3472130"/>
            <a:ext cx="370936" cy="207034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61EDA265-4D1B-2CFC-0499-6AA591B4DA7E}"/>
              </a:ext>
            </a:extLst>
          </p:cNvPr>
          <p:cNvSpPr/>
          <p:nvPr/>
        </p:nvSpPr>
        <p:spPr>
          <a:xfrm rot="16200000">
            <a:off x="8936964" y="684121"/>
            <a:ext cx="370936" cy="207034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50072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CBF3-4912-0D47-A79A-AA7760E0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704115"/>
            <a:ext cx="11560174" cy="460167"/>
          </a:xfrm>
        </p:spPr>
        <p:txBody>
          <a:bodyPr/>
          <a:lstStyle/>
          <a:p>
            <a:r>
              <a:rPr lang="en-US" dirty="0"/>
              <a:t>Other – Month End Close &amp; Presentation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7396F-C28B-ADAE-39C4-4B340256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796" y="1330808"/>
            <a:ext cx="4363281" cy="11161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5177B-FD53-727E-FB3C-0A0FF1FD1D87}"/>
              </a:ext>
            </a:extLst>
          </p:cNvPr>
          <p:cNvSpPr txBox="1"/>
          <p:nvPr/>
        </p:nvSpPr>
        <p:spPr>
          <a:xfrm>
            <a:off x="8660414" y="816692"/>
            <a:ext cx="350582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31F30"/>
                </a:solidFill>
              </a:rPr>
              <a:t>My Role/Contribution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Leadership views of corporate credit card spend (total, install, service &amp; sales)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Create accrual and allocation journal entries (JE’s)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Reviewed P&amp;L results</a:t>
            </a:r>
          </a:p>
          <a:p>
            <a:pPr lvl="1"/>
            <a:endParaRPr lang="en-US" sz="14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31F30"/>
                </a:solidFill>
              </a:rPr>
              <a:t>What was Learned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The month end close process &amp; deadlines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How to create various JE’s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How to research P&amp;L activity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All the departments that effect financials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237DB3-9430-418A-94E7-7B838DAA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" y="4343085"/>
            <a:ext cx="4401905" cy="22638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794979-787E-7C2E-DE86-57CAC04C0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137" y="4335718"/>
            <a:ext cx="4113276" cy="231371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93F57E-7C3D-9DD5-6683-718EF0EDA3D3}"/>
              </a:ext>
            </a:extLst>
          </p:cNvPr>
          <p:cNvCxnSpPr>
            <a:cxnSpLocks/>
          </p:cNvCxnSpPr>
          <p:nvPr/>
        </p:nvCxnSpPr>
        <p:spPr>
          <a:xfrm>
            <a:off x="209403" y="4140679"/>
            <a:ext cx="1185032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12C6AC-74A7-1326-778D-C25F90901513}"/>
              </a:ext>
            </a:extLst>
          </p:cNvPr>
          <p:cNvSpPr txBox="1"/>
          <p:nvPr/>
        </p:nvSpPr>
        <p:spPr>
          <a:xfrm>
            <a:off x="8706539" y="4209350"/>
            <a:ext cx="34596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31F30"/>
                </a:solidFill>
              </a:rPr>
              <a:t>My Role/Contribution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Created various backlog on-hold slides, T&amp;E slides, Bad Debt slide for Damon’s mid-year slides</a:t>
            </a:r>
          </a:p>
          <a:p>
            <a:pPr lvl="1"/>
            <a:endParaRPr lang="en-US" sz="1400" dirty="0">
              <a:solidFill>
                <a:srgbClr val="031F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31F30"/>
                </a:solidFill>
              </a:rPr>
              <a:t>What was Learned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Key focus items during mid-year meetings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PowerPoint skills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31F30"/>
                </a:solidFill>
              </a:rPr>
              <a:t>Bad Debt is a precaution measurement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42E7C5-05E7-FB14-FA86-D6EAEE2C0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403" y="1046409"/>
            <a:ext cx="4073716" cy="2309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DBF0FA-4378-7287-40F3-457585F90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2557" y="3095175"/>
            <a:ext cx="5117520" cy="97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0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74502-8766-840F-017E-B8FF9111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8B82EF-EB3D-20B1-2291-FD6EBA33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6" b="13461"/>
          <a:stretch>
            <a:fillRect/>
          </a:stretch>
        </p:blipFill>
        <p:spPr>
          <a:xfrm>
            <a:off x="4251287" y="1633276"/>
            <a:ext cx="7624800" cy="460533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674D3-086E-98ED-25A6-CCF06FCF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solidFill>
                  <a:srgbClr val="031F30"/>
                </a:solidFill>
                <a:latin typeface="+mj-lt"/>
                <a:ea typeface="+mj-ea"/>
                <a:cs typeface="+mj-cs"/>
              </a:rPr>
              <a:t>Pros of the Internship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EF88E-FA32-BDEC-9950-01EAD1ED29A2}"/>
              </a:ext>
            </a:extLst>
          </p:cNvPr>
          <p:cNvSpPr txBox="1"/>
          <p:nvPr/>
        </p:nvSpPr>
        <p:spPr>
          <a:xfrm>
            <a:off x="312996" y="1603113"/>
            <a:ext cx="3686175" cy="46354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Company involvement/events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Variety in projects and workload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Felt challenged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Gained new skills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Being able to sit in with monitoring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Great mentoring by managers and executives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Getting to learn from each FP&amp;A team member</a:t>
            </a:r>
          </a:p>
        </p:txBody>
      </p:sp>
    </p:spTree>
    <p:extLst>
      <p:ext uri="{BB962C8B-B14F-4D97-AF65-F5344CB8AC3E}">
        <p14:creationId xmlns:p14="http://schemas.microsoft.com/office/powerpoint/2010/main" val="3949093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953E-97C7-75CB-DF8D-9585CD86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351F-3138-D88E-AB6A-9CA17F59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 for improvement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29304-BDC0-6742-40EE-CA20C947FE0C}"/>
              </a:ext>
            </a:extLst>
          </p:cNvPr>
          <p:cNvSpPr txBox="1"/>
          <p:nvPr/>
        </p:nvSpPr>
        <p:spPr>
          <a:xfrm>
            <a:off x="315913" y="163327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More collaboration between other interns and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Take more time to observe and learn from other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More involvement with company leadership if/when time permits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608DF-C343-933C-B6F1-498E8178AD89}"/>
              </a:ext>
            </a:extLst>
          </p:cNvPr>
          <p:cNvSpPr txBox="1"/>
          <p:nvPr/>
        </p:nvSpPr>
        <p:spPr>
          <a:xfrm>
            <a:off x="315913" y="3890870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31F30"/>
                </a:solidFill>
              </a:rPr>
              <a:t>Preparing for my Future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8A7A0-FC8D-500B-550F-E392CED4ACBE}"/>
              </a:ext>
            </a:extLst>
          </p:cNvPr>
          <p:cNvSpPr txBox="1"/>
          <p:nvPr/>
        </p:nvSpPr>
        <p:spPr>
          <a:xfrm>
            <a:off x="315913" y="4352535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Helped me navigate my future career and the path I want to take to get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Able to better my resume and interview talking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1F30"/>
                </a:solidFill>
              </a:rPr>
              <a:t>Gained real world work experience within an office setting</a:t>
            </a:r>
          </a:p>
        </p:txBody>
      </p:sp>
      <p:pic>
        <p:nvPicPr>
          <p:cNvPr id="6" name="Picture 5" descr="People at meeting">
            <a:extLst>
              <a:ext uri="{FF2B5EF4-FFF2-40B4-BE49-F238E27FC236}">
                <a16:creationId xmlns:a16="http://schemas.microsoft.com/office/drawing/2014/main" id="{54549247-FFE8-26F3-AB4E-8A6DCB610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197" y="0"/>
            <a:ext cx="5661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8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476E-27DE-44C4-741E-92469B7A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1AE5D8-9D65-07D8-16DA-25CEDC40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375" y="3645933"/>
            <a:ext cx="6300547" cy="1023996"/>
          </a:xfrm>
        </p:spPr>
        <p:txBody>
          <a:bodyPr/>
          <a:lstStyle/>
          <a:p>
            <a:pPr algn="ctr"/>
            <a:r>
              <a:rPr lang="en-US" sz="7200" dirty="0"/>
              <a:t>Questions?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6CC24FB-F2EC-01FC-312F-9A15A6517C07}"/>
              </a:ext>
            </a:extLst>
          </p:cNvPr>
          <p:cNvSpPr txBox="1">
            <a:spLocks/>
          </p:cNvSpPr>
          <p:nvPr/>
        </p:nvSpPr>
        <p:spPr>
          <a:xfrm>
            <a:off x="3941617" y="1889184"/>
            <a:ext cx="4708062" cy="16821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31F3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211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683CE-8A2E-B79C-5E38-166A6C31BF5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2737" y="6569999"/>
            <a:ext cx="5780087" cy="28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7740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9_General layouts">
  <a:themeElements>
    <a:clrScheme name="Securitas 2021 NY">
      <a:dk1>
        <a:srgbClr val="031F30"/>
      </a:dk1>
      <a:lt1>
        <a:sysClr val="window" lastClr="FFFFFF"/>
      </a:lt1>
      <a:dk2>
        <a:srgbClr val="031F30"/>
      </a:dk2>
      <a:lt2>
        <a:srgbClr val="F2F2F2"/>
      </a:lt2>
      <a:accent1>
        <a:srgbClr val="FC273F"/>
      </a:accent1>
      <a:accent2>
        <a:srgbClr val="AA1834"/>
      </a:accent2>
      <a:accent3>
        <a:srgbClr val="FF8DA3"/>
      </a:accent3>
      <a:accent4>
        <a:srgbClr val="031F30"/>
      </a:accent4>
      <a:accent5>
        <a:srgbClr val="ACC2DD"/>
      </a:accent5>
      <a:accent6>
        <a:srgbClr val="8D5FFF"/>
      </a:accent6>
      <a:hlink>
        <a:srgbClr val="8D5FFF"/>
      </a:hlink>
      <a:folHlink>
        <a:srgbClr val="55419E"/>
      </a:folHlink>
    </a:clrScheme>
    <a:fontScheme name="Securitas">
      <a:majorFont>
        <a:latin typeface="Securitas Pro Office"/>
        <a:ea typeface=""/>
        <a:cs typeface=""/>
      </a:majorFont>
      <a:minorFont>
        <a:latin typeface="Securitas Pr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31F30"/>
        </a:solidFill>
        <a:ln>
          <a:noFill/>
        </a:ln>
      </a:spPr>
      <a:bodyPr rtlCol="0" anchor="ctr"/>
      <a:lstStyle>
        <a:defPPr algn="ctr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/>
        </a:defPPr>
      </a:lstStyle>
    </a:txDef>
  </a:objectDefaults>
  <a:extraClrSchemeLst/>
  <a:custClrLst>
    <a:custClr name="Red">
      <a:srgbClr val="FC273F"/>
    </a:custClr>
    <a:custClr name="Navy Blue">
      <a:srgbClr val="031F30"/>
    </a:custClr>
    <a:custClr name="Dark Red">
      <a:srgbClr val="8D5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ght Red">
      <a:srgbClr val="FF8DA3"/>
    </a:custClr>
    <a:custClr name="Light Blue">
      <a:srgbClr val="ACC2DD"/>
    </a:custClr>
    <a:custClr name="Light Purple">
      <a:srgbClr val="C2B4FC"/>
    </a:custClr>
    <a:custClr>
      <a:srgbClr val="D7D8D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Mid Red">
      <a:srgbClr val="AA1834"/>
    </a:custClr>
    <a:custClr name="Mid Blue">
      <a:srgbClr val="42638C"/>
    </a:custClr>
    <a:custClr name="Mid Purple">
      <a:srgbClr val="55419E"/>
    </a:custClr>
    <a:custClr name="Mid Grey">
      <a:srgbClr val="9C9EA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ark Red">
      <a:srgbClr val="641432"/>
    </a:custClr>
    <a:custClr>
      <a:srgbClr val="FFFFFF"/>
    </a:custClr>
    <a:custClr name="Dark Purple">
      <a:srgbClr val="26224C"/>
    </a:custClr>
    <a:custClr name="Dark Grey">
      <a:srgbClr val="53565A"/>
    </a:custClr>
  </a:custClrLst>
  <a:extLst>
    <a:ext uri="{05A4C25C-085E-4340-85A3-A5531E510DB2}">
      <thm15:themeFamily xmlns:thm15="http://schemas.microsoft.com/office/thememl/2012/main" name="Securitas_powerpoint_template.potx" id="{3E9C436C-C6B5-4250-A6E0-B2D1F90CE836}" vid="{F3B72513-B28A-49B1-94F4-D94E6D66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ecuritas 2021 NY">
    <a:dk1>
      <a:srgbClr val="031F30"/>
    </a:dk1>
    <a:lt1>
      <a:sysClr val="window" lastClr="FFFFFF"/>
    </a:lt1>
    <a:dk2>
      <a:srgbClr val="031F30"/>
    </a:dk2>
    <a:lt2>
      <a:srgbClr val="F2F2F2"/>
    </a:lt2>
    <a:accent1>
      <a:srgbClr val="FC273F"/>
    </a:accent1>
    <a:accent2>
      <a:srgbClr val="AA1834"/>
    </a:accent2>
    <a:accent3>
      <a:srgbClr val="FF8DA3"/>
    </a:accent3>
    <a:accent4>
      <a:srgbClr val="031F30"/>
    </a:accent4>
    <a:accent5>
      <a:srgbClr val="ACC2DD"/>
    </a:accent5>
    <a:accent6>
      <a:srgbClr val="8D5FFF"/>
    </a:accent6>
    <a:hlink>
      <a:srgbClr val="8D5FFF"/>
    </a:hlink>
    <a:folHlink>
      <a:srgbClr val="55419E"/>
    </a:folHlink>
  </a:clrScheme>
</a:themeOverride>
</file>

<file path=ppt/theme/themeOverride2.xml><?xml version="1.0" encoding="utf-8"?>
<a:themeOverride xmlns:a="http://schemas.openxmlformats.org/drawingml/2006/main">
  <a:clrScheme name="Securitas 2021 NY">
    <a:dk1>
      <a:srgbClr val="031F30"/>
    </a:dk1>
    <a:lt1>
      <a:sysClr val="window" lastClr="FFFFFF"/>
    </a:lt1>
    <a:dk2>
      <a:srgbClr val="031F30"/>
    </a:dk2>
    <a:lt2>
      <a:srgbClr val="F2F2F2"/>
    </a:lt2>
    <a:accent1>
      <a:srgbClr val="FC273F"/>
    </a:accent1>
    <a:accent2>
      <a:srgbClr val="AA1834"/>
    </a:accent2>
    <a:accent3>
      <a:srgbClr val="FF8DA3"/>
    </a:accent3>
    <a:accent4>
      <a:srgbClr val="031F30"/>
    </a:accent4>
    <a:accent5>
      <a:srgbClr val="ACC2DD"/>
    </a:accent5>
    <a:accent6>
      <a:srgbClr val="8D5FFF"/>
    </a:accent6>
    <a:hlink>
      <a:srgbClr val="8D5FFF"/>
    </a:hlink>
    <a:folHlink>
      <a:srgbClr val="55419E"/>
    </a:folHlink>
  </a:clrScheme>
</a:themeOverride>
</file>

<file path=ppt/theme/themeOverride3.xml><?xml version="1.0" encoding="utf-8"?>
<a:themeOverride xmlns:a="http://schemas.openxmlformats.org/drawingml/2006/main">
  <a:clrScheme name="Securitas 2021 NY">
    <a:dk1>
      <a:srgbClr val="031F30"/>
    </a:dk1>
    <a:lt1>
      <a:sysClr val="window" lastClr="FFFFFF"/>
    </a:lt1>
    <a:dk2>
      <a:srgbClr val="031F30"/>
    </a:dk2>
    <a:lt2>
      <a:srgbClr val="F2F2F2"/>
    </a:lt2>
    <a:accent1>
      <a:srgbClr val="FC273F"/>
    </a:accent1>
    <a:accent2>
      <a:srgbClr val="AA1834"/>
    </a:accent2>
    <a:accent3>
      <a:srgbClr val="FF8DA3"/>
    </a:accent3>
    <a:accent4>
      <a:srgbClr val="031F30"/>
    </a:accent4>
    <a:accent5>
      <a:srgbClr val="ACC2DD"/>
    </a:accent5>
    <a:accent6>
      <a:srgbClr val="8D5FFF"/>
    </a:accent6>
    <a:hlink>
      <a:srgbClr val="8D5FFF"/>
    </a:hlink>
    <a:folHlink>
      <a:srgbClr val="55419E"/>
    </a:folHlink>
  </a:clrScheme>
</a:themeOverride>
</file>

<file path=ppt/theme/themeOverride4.xml><?xml version="1.0" encoding="utf-8"?>
<a:themeOverride xmlns:a="http://schemas.openxmlformats.org/drawingml/2006/main">
  <a:clrScheme name="Securitas 2021 NY">
    <a:dk1>
      <a:srgbClr val="031F30"/>
    </a:dk1>
    <a:lt1>
      <a:sysClr val="window" lastClr="FFFFFF"/>
    </a:lt1>
    <a:dk2>
      <a:srgbClr val="031F30"/>
    </a:dk2>
    <a:lt2>
      <a:srgbClr val="F2F2F2"/>
    </a:lt2>
    <a:accent1>
      <a:srgbClr val="FC273F"/>
    </a:accent1>
    <a:accent2>
      <a:srgbClr val="AA1834"/>
    </a:accent2>
    <a:accent3>
      <a:srgbClr val="FF8DA3"/>
    </a:accent3>
    <a:accent4>
      <a:srgbClr val="031F30"/>
    </a:accent4>
    <a:accent5>
      <a:srgbClr val="ACC2DD"/>
    </a:accent5>
    <a:accent6>
      <a:srgbClr val="8D5FFF"/>
    </a:accent6>
    <a:hlink>
      <a:srgbClr val="8D5FFF"/>
    </a:hlink>
    <a:folHlink>
      <a:srgbClr val="55419E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72B04F022EB346ABC419C63884137A" ma:contentTypeVersion="16" ma:contentTypeDescription="Create a new document." ma:contentTypeScope="" ma:versionID="050c654b63c76444450754bcb077cd96">
  <xsd:schema xmlns:xsd="http://www.w3.org/2001/XMLSchema" xmlns:xs="http://www.w3.org/2001/XMLSchema" xmlns:p="http://schemas.microsoft.com/office/2006/metadata/properties" xmlns:ns2="69257654-be4c-46ba-99a2-e92e2e78f3e7" xmlns:ns3="aa160e76-5ac7-4b46-93d0-2d37879427da" targetNamespace="http://schemas.microsoft.com/office/2006/metadata/properties" ma:root="true" ma:fieldsID="9c85e7837e039c5c05728ef10c1d36ad" ns2:_="" ns3:_="">
    <xsd:import namespace="69257654-be4c-46ba-99a2-e92e2e78f3e7"/>
    <xsd:import namespace="aa160e76-5ac7-4b46-93d0-2d37879427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257654-be4c-46ba-99a2-e92e2e78f3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2332b1c-8e6b-44ad-9ab3-6408669eed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60e76-5ac7-4b46-93d0-2d37879427d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ebbfb77-7ba2-43d1-9625-02839f4c19eb}" ma:internalName="TaxCatchAll" ma:showField="CatchAllData" ma:web="aa160e76-5ac7-4b46-93d0-2d37879427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257654-be4c-46ba-99a2-e92e2e78f3e7">
      <Terms xmlns="http://schemas.microsoft.com/office/infopath/2007/PartnerControls"/>
    </lcf76f155ced4ddcb4097134ff3c332f>
    <TaxCatchAll xmlns="aa160e76-5ac7-4b46-93d0-2d37879427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12A08B-84A2-4AAC-BA67-FBFEB09F1C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257654-be4c-46ba-99a2-e92e2e78f3e7"/>
    <ds:schemaRef ds:uri="aa160e76-5ac7-4b46-93d0-2d3787942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2C4B37-5242-4C99-8F44-A4E1E3A1E2E8}">
  <ds:schemaRefs>
    <ds:schemaRef ds:uri="http://schemas.microsoft.com/office/2006/metadata/properties"/>
    <ds:schemaRef ds:uri="http://schemas.microsoft.com/office/infopath/2007/PartnerControls"/>
    <ds:schemaRef ds:uri="69257654-be4c-46ba-99a2-e92e2e78f3e7"/>
    <ds:schemaRef ds:uri="aa160e76-5ac7-4b46-93d0-2d37879427da"/>
  </ds:schemaRefs>
</ds:datastoreItem>
</file>

<file path=customXml/itemProps3.xml><?xml version="1.0" encoding="utf-8"?>
<ds:datastoreItem xmlns:ds="http://schemas.openxmlformats.org/officeDocument/2006/customXml" ds:itemID="{C1DD9CBC-766F-4384-9C1D-838EE1A80D3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24354d6-c0e9-4261-9371-01f058dc89e3}" enabled="1" method="Standard" siteId="{fb0af7d1-8a83-48bc-8d2d-cd92034c79d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1964</TotalTime>
  <Words>561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Securitas Pro Office</vt:lpstr>
      <vt:lpstr>Wingdings</vt:lpstr>
      <vt:lpstr>9_General layouts</vt:lpstr>
      <vt:lpstr>think-cell Slide</vt:lpstr>
      <vt:lpstr>Summer 2026 Internship Presentation Finance</vt:lpstr>
      <vt:lpstr>My Position </vt:lpstr>
      <vt:lpstr>Solomon Sub Account to SAP Cost Center Mapping </vt:lpstr>
      <vt:lpstr>PowerPoint Presentation</vt:lpstr>
      <vt:lpstr>Install Backlog Analysis and Reporting</vt:lpstr>
      <vt:lpstr>Other – Month End Close &amp; Presentation Work</vt:lpstr>
      <vt:lpstr>Pros of the Internship</vt:lpstr>
      <vt:lpstr>Suggestions for improvement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Securitas Technology 2025 Business Planning</dc:title>
  <dc:creator>Trever Zeibert</dc:creator>
  <cp:lastModifiedBy>John Schofield</cp:lastModifiedBy>
  <cp:revision>51</cp:revision>
  <dcterms:created xsi:type="dcterms:W3CDTF">2024-06-06T12:35:48Z</dcterms:created>
  <dcterms:modified xsi:type="dcterms:W3CDTF">2026-08-05T15:10:36Z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0x010100ED72B04F022EB346ABC419C63884137A</vt:lpwstr>
  </property>
  <property fmtid="{D5CDD505-2E9C-101B-9397-08002B2CF9AE}" pid="3" name="MediaServiceImageTags">
    <vt:lpwstr/>
  </property>
</Properties>
</file>